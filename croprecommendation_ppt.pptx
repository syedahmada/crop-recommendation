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3" r:id="rId3"/>
    <p:sldId id="262" r:id="rId4"/>
    <p:sldId id="265" r:id="rId5"/>
    <p:sldId id="261" r:id="rId6"/>
    <p:sldId id="260" r:id="rId7"/>
    <p:sldId id="259" r:id="rId8"/>
    <p:sldId id="257" r:id="rId9"/>
    <p:sldId id="258" r:id="rId10"/>
    <p:sldId id="256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7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BD160B-3C60-4A06-B432-2FFF31E41963}" v="2" dt="2026-07-29T11:46:05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yan zafar" userId="9f973460c78d4e96" providerId="LiveId" clId="{C659E227-3F77-40B9-96F2-773E7F37774B}"/>
    <pc:docChg chg="addSld modSld sldOrd">
      <pc:chgData name="aayan zafar" userId="9f973460c78d4e96" providerId="LiveId" clId="{C659E227-3F77-40B9-96F2-773E7F37774B}" dt="2026-07-29T11:49:20.996" v="83" actId="1076"/>
      <pc:docMkLst>
        <pc:docMk/>
      </pc:docMkLst>
      <pc:sldChg chg="modSp mod">
        <pc:chgData name="aayan zafar" userId="9f973460c78d4e96" providerId="LiveId" clId="{C659E227-3F77-40B9-96F2-773E7F37774B}" dt="2026-07-29T10:47:15.905" v="1" actId="20577"/>
        <pc:sldMkLst>
          <pc:docMk/>
          <pc:sldMk cId="0" sldId="264"/>
        </pc:sldMkLst>
        <pc:spChg chg="mod">
          <ac:chgData name="aayan zafar" userId="9f973460c78d4e96" providerId="LiveId" clId="{C659E227-3F77-40B9-96F2-773E7F37774B}" dt="2026-07-29T10:47:15.905" v="1" actId="20577"/>
          <ac:spMkLst>
            <pc:docMk/>
            <pc:sldMk cId="0" sldId="264"/>
            <ac:spMk id="4" creationId="{00000000-0000-0000-0000-000000000000}"/>
          </ac:spMkLst>
        </pc:spChg>
      </pc:sldChg>
      <pc:sldChg chg="addSp delSp modSp new mod ord">
        <pc:chgData name="aayan zafar" userId="9f973460c78d4e96" providerId="LiveId" clId="{C659E227-3F77-40B9-96F2-773E7F37774B}" dt="2026-07-29T11:49:20.996" v="83" actId="1076"/>
        <pc:sldMkLst>
          <pc:docMk/>
          <pc:sldMk cId="3057449989" sldId="266"/>
        </pc:sldMkLst>
        <pc:spChg chg="add del mod">
          <ac:chgData name="aayan zafar" userId="9f973460c78d4e96" providerId="LiveId" clId="{C659E227-3F77-40B9-96F2-773E7F37774B}" dt="2026-07-29T11:45:53.674" v="11"/>
          <ac:spMkLst>
            <pc:docMk/>
            <pc:sldMk cId="3057449989" sldId="266"/>
            <ac:spMk id="2" creationId="{441EA31E-38AA-0571-9F97-B96DF95B579E}"/>
          </ac:spMkLst>
        </pc:spChg>
        <pc:spChg chg="add mod">
          <ac:chgData name="aayan zafar" userId="9f973460c78d4e96" providerId="LiveId" clId="{C659E227-3F77-40B9-96F2-773E7F37774B}" dt="2026-07-29T11:49:20.996" v="83" actId="1076"/>
          <ac:spMkLst>
            <pc:docMk/>
            <pc:sldMk cId="3057449989" sldId="266"/>
            <ac:spMk id="3" creationId="{BD555628-DFD4-E783-45F0-A2D1DC0F676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rop-recommendation-mrxficaj6jkwgd3bkimjdt.streamlit.ap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30898" y="2011680"/>
            <a:ext cx="657404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5F5F5"/>
                </a:solidFill>
              </a:defRPr>
            </a:pPr>
            <a:r>
              <a:rPr sz="4000" dirty="0"/>
              <a:t>Crop Recommendation </a:t>
            </a:r>
            <a:r>
              <a:rPr lang="en-US" sz="4000" dirty="0"/>
              <a:t>Model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4414498" y="2926080"/>
            <a:ext cx="342395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6AAFF"/>
                </a:solidFill>
              </a:defRPr>
            </a:pPr>
            <a:r>
              <a:rPr lang="en-IN" i="1" dirty="0"/>
              <a:t> </a:t>
            </a:r>
            <a:r>
              <a:rPr lang="en-IN" sz="2400" i="1" dirty="0"/>
              <a:t>BY GROUP : DATA DRIVEN</a:t>
            </a:r>
            <a:endParaRPr sz="2400" i="1" dirty="0"/>
          </a:p>
        </p:txBody>
      </p:sp>
      <p:sp>
        <p:nvSpPr>
          <p:cNvPr id="4" name="Rounded Rectangle 3"/>
          <p:cNvSpPr/>
          <p:nvPr/>
        </p:nvSpPr>
        <p:spPr>
          <a:xfrm>
            <a:off x="2926080" y="4023360"/>
            <a:ext cx="3017520" cy="914400"/>
          </a:xfrm>
          <a:prstGeom prst="roundRect">
            <a:avLst/>
          </a:prstGeom>
          <a:solidFill>
            <a:srgbClr val="18233A"/>
          </a:solidFill>
          <a:ln>
            <a:solidFill>
              <a:srgbClr val="28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DCB4"/>
                </a:solidFill>
              </a:defRPr>
            </a:pPr>
            <a:r>
              <a:rPr dirty="0"/>
              <a:t>ML Model Engineering (Jupyter)</a:t>
            </a:r>
          </a:p>
          <a:p>
            <a:pPr algn="ctr">
              <a:defRPr sz="1500">
                <a:solidFill>
                  <a:srgbClr val="F5F5F5"/>
                </a:solidFill>
              </a:defRPr>
            </a:pPr>
            <a:r>
              <a:rPr dirty="0"/>
              <a:t>[</a:t>
            </a:r>
            <a:r>
              <a:rPr lang="en-US" dirty="0"/>
              <a:t>Mohammad Aayan Zafar</a:t>
            </a:r>
            <a:r>
              <a:rPr dirty="0"/>
              <a:t>]</a:t>
            </a:r>
            <a:endParaRPr lang="en-US" dirty="0"/>
          </a:p>
          <a:p>
            <a:pPr algn="ctr">
              <a:defRPr sz="1500">
                <a:solidFill>
                  <a:srgbClr val="F5F5F5"/>
                </a:solidFill>
              </a:defRPr>
            </a:pPr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Year Electronics Engineering 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309360" y="4023360"/>
            <a:ext cx="3017520" cy="914400"/>
          </a:xfrm>
          <a:prstGeom prst="roundRect">
            <a:avLst/>
          </a:prstGeom>
          <a:solidFill>
            <a:srgbClr val="18233A"/>
          </a:solidFill>
          <a:ln>
            <a:solidFill>
              <a:srgbClr val="28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DCB4"/>
                </a:solidFill>
              </a:defRPr>
            </a:pPr>
            <a:r>
              <a:rPr dirty="0"/>
              <a:t>Web Application (</a:t>
            </a:r>
            <a:r>
              <a:rPr dirty="0" err="1"/>
              <a:t>Streamlit</a:t>
            </a:r>
            <a:r>
              <a:rPr dirty="0"/>
              <a:t>)</a:t>
            </a:r>
          </a:p>
          <a:p>
            <a:pPr algn="ctr">
              <a:defRPr sz="1500">
                <a:solidFill>
                  <a:srgbClr val="F5F5F5"/>
                </a:solidFill>
              </a:defRPr>
            </a:pPr>
            <a:r>
              <a:rPr lang="en-US" dirty="0"/>
              <a:t>[Syed Ahmad Ali</a:t>
            </a:r>
            <a:r>
              <a:rPr dirty="0"/>
              <a:t>]</a:t>
            </a:r>
            <a:endParaRPr lang="en-US" dirty="0"/>
          </a:p>
          <a:p>
            <a:pPr algn="ctr">
              <a:defRPr sz="1500">
                <a:solidFill>
                  <a:srgbClr val="F5F5F5"/>
                </a:solidFill>
              </a:defRPr>
            </a:pPr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Year Electrical Engineering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65760"/>
            <a:ext cx="45720" cy="502920"/>
          </a:xfrm>
          <a:prstGeom prst="rect">
            <a:avLst/>
          </a:prstGeom>
          <a:solidFill>
            <a:srgbClr val="22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920240"/>
            <a:ext cx="5577840" cy="3291840"/>
          </a:xfrm>
          <a:prstGeom prst="roundRect">
            <a:avLst/>
          </a:prstGeom>
          <a:solidFill>
            <a:srgbClr val="18233A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5A6E"/>
                </a:solidFill>
              </a:defRPr>
            </a:pPr>
            <a:r>
              <a:t>⚠ Agricultural Challenges</a:t>
            </a:r>
          </a:p>
          <a:p>
            <a:pPr>
              <a:defRPr sz="1500">
                <a:solidFill>
                  <a:srgbClr val="E6EBF0"/>
                </a:solidFill>
              </a:defRPr>
            </a:pPr>
            <a:r>
              <a:t>• Unscientific Selection: Dependence on habit leads to poor yields and soil nutrient depletion.</a:t>
            </a:r>
          </a:p>
          <a:p>
            <a:pPr>
              <a:defRPr sz="1500">
                <a:solidFill>
                  <a:srgbClr val="E6EBF0"/>
                </a:solidFill>
              </a:defRPr>
            </a:pPr>
            <a:r>
              <a:t>• Multi-Factor Weather: Complex interplay between N, P, K, pH, temperature, humidity, and rainfall.</a:t>
            </a:r>
          </a:p>
          <a:p>
            <a:pPr>
              <a:defRPr sz="1500">
                <a:solidFill>
                  <a:srgbClr val="E6EBF0"/>
                </a:solidFill>
              </a:defRPr>
            </a:pPr>
            <a:r>
              <a:t>• Technical Gap: Advanced ML models remain locked in notebooks, inaccessible to real farmers.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920240"/>
            <a:ext cx="5577840" cy="3291840"/>
          </a:xfrm>
          <a:prstGeom prst="roundRect">
            <a:avLst/>
          </a:prstGeom>
          <a:solidFill>
            <a:srgbClr val="18233A"/>
          </a:solidFill>
          <a:ln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DCAA"/>
                </a:solidFill>
              </a:defRPr>
            </a:pPr>
            <a:r>
              <a:t>✔ Our End-to-End Solution</a:t>
            </a:r>
          </a:p>
          <a:p>
            <a:pPr>
              <a:defRPr sz="1500">
                <a:solidFill>
                  <a:srgbClr val="E6EBF0"/>
                </a:solidFill>
              </a:defRPr>
            </a:pPr>
            <a:r>
              <a:t>• Scientific Matching: Recommends optimal crops tailored to exact soil and climate conditions.</a:t>
            </a:r>
          </a:p>
          <a:p>
            <a:pPr>
              <a:defRPr sz="1500">
                <a:solidFill>
                  <a:srgbClr val="E6EBF0"/>
                </a:solidFill>
              </a:defRPr>
            </a:pPr>
            <a:r>
              <a:t>• 51-Crop Precision: Trained across Random Forest, KNN, and Logistic Regression on 6,596 dataset records.</a:t>
            </a:r>
          </a:p>
          <a:p>
            <a:pPr>
              <a:defRPr sz="1500">
                <a:solidFill>
                  <a:srgbClr val="E6EBF0"/>
                </a:solidFill>
              </a:defRPr>
            </a:pPr>
            <a:r>
              <a:t>• Streamlit Web UI: Simple, 1-click web interface transforming raw inputs into live predictions.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57200"/>
            <a:ext cx="45720" cy="502920"/>
          </a:xfrm>
          <a:prstGeom prst="rect">
            <a:avLst/>
          </a:prstGeom>
          <a:solidFill>
            <a:srgbClr val="21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System Architecture &amp; Pipeline Flowchart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331720"/>
            <a:ext cx="11338560" cy="1234440"/>
          </a:xfrm>
          <a:prstGeom prst="roundRect">
            <a:avLst/>
          </a:prstGeom>
          <a:noFill/>
          <a:ln>
            <a:solidFill>
              <a:srgbClr val="42B4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240279"/>
            <a:ext cx="3840480" cy="228600"/>
          </a:xfrm>
          <a:prstGeom prst="roundRect">
            <a:avLst/>
          </a:prstGeom>
          <a:solidFill>
            <a:srgbClr val="42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PHASE 1: RESEARCH &amp; MODEL PIPELINE (Jupyter Notebook)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15768"/>
            <a:ext cx="2560320" cy="566928"/>
          </a:xfrm>
          <a:prstGeom prst="roundRect">
            <a:avLst/>
          </a:prstGeom>
          <a:solidFill>
            <a:srgbClr val="141C2D"/>
          </a:solidFill>
          <a:ln>
            <a:solidFill>
              <a:srgbClr val="42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t>Raw Dataset</a:t>
            </a:r>
          </a:p>
          <a:p>
            <a:pPr>
              <a:defRPr sz="1000">
                <a:solidFill>
                  <a:srgbClr val="AAB4C8"/>
                </a:solidFill>
              </a:defRPr>
            </a:pPr>
            <a:r>
              <a:t>6,596 Records, 51 Crops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4733" y="276283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2B4FF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1052" y="2688336"/>
            <a:ext cx="2548661" cy="566928"/>
          </a:xfrm>
          <a:prstGeom prst="roundRect">
            <a:avLst/>
          </a:prstGeom>
          <a:solidFill>
            <a:srgbClr val="141C2D"/>
          </a:solidFill>
          <a:ln>
            <a:solidFill>
              <a:srgbClr val="42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t>EDA &amp; Preprocessing</a:t>
            </a:r>
          </a:p>
          <a:p>
            <a:pPr>
              <a:defRPr sz="1000">
                <a:solidFill>
                  <a:srgbClr val="AAB4C8"/>
                </a:solidFill>
              </a:defRPr>
            </a:pPr>
            <a:r>
              <a:t>Null Checks &amp;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3994" y="277520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2B4FF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2459" y="2715768"/>
            <a:ext cx="2548661" cy="566928"/>
          </a:xfrm>
          <a:prstGeom prst="roundRect">
            <a:avLst/>
          </a:prstGeom>
          <a:solidFill>
            <a:srgbClr val="141C2D"/>
          </a:solidFill>
          <a:ln>
            <a:solidFill>
              <a:srgbClr val="42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rPr dirty="0" err="1"/>
              <a:t>StandardScaler</a:t>
            </a:r>
            <a:r>
              <a:rPr dirty="0"/>
              <a:t> &amp;</a:t>
            </a:r>
            <a:br>
              <a:rPr dirty="0"/>
            </a:br>
            <a:r>
              <a:rPr dirty="0" err="1"/>
              <a:t>OneHotEncoder</a:t>
            </a:r>
            <a:endParaRPr dirty="0"/>
          </a:p>
          <a:p>
            <a:pPr>
              <a:defRPr sz="1000">
                <a:solidFill>
                  <a:srgbClr val="AAB4C8"/>
                </a:solidFill>
              </a:defRPr>
            </a:pPr>
            <a:r>
              <a:rPr dirty="0"/>
              <a:t>Scikit-Learn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7660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2B4FF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715768"/>
            <a:ext cx="2365781" cy="566928"/>
          </a:xfrm>
          <a:prstGeom prst="roundRect">
            <a:avLst/>
          </a:prstGeom>
          <a:solidFill>
            <a:srgbClr val="141C2D"/>
          </a:solidFill>
          <a:ln>
            <a:solidFill>
              <a:srgbClr val="42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rPr dirty="0"/>
              <a:t>Model Training &amp; Benchmark</a:t>
            </a:r>
          </a:p>
          <a:p>
            <a:pPr>
              <a:defRPr sz="1000">
                <a:solidFill>
                  <a:srgbClr val="AAB4C8"/>
                </a:solidFill>
              </a:defRPr>
            </a:pPr>
            <a:r>
              <a:rPr dirty="0"/>
              <a:t>RF vs. KNN vs. </a:t>
            </a:r>
            <a:r>
              <a:rPr dirty="0" err="1"/>
              <a:t>LogReg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966612" y="355244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21DCB4"/>
                </a:solidFill>
              </a:defRPr>
            </a:pPr>
            <a:r>
              <a:rPr dirty="0"/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023360"/>
            <a:ext cx="11338560" cy="1234440"/>
          </a:xfrm>
          <a:prstGeom prst="roundRect">
            <a:avLst/>
          </a:prstGeom>
          <a:noFill/>
          <a:ln>
            <a:solidFill>
              <a:srgbClr val="21DCB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3840480" cy="228600"/>
          </a:xfrm>
          <a:prstGeom prst="roundRect">
            <a:avLst/>
          </a:prstGeom>
          <a:solidFill>
            <a:srgbClr val="21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PHASE 2: WEB APPLICATION &amp; DEPLOYMENT (Streamlit)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07408"/>
            <a:ext cx="2560320" cy="566928"/>
          </a:xfrm>
          <a:prstGeom prst="roundRect">
            <a:avLst/>
          </a:prstGeom>
          <a:solidFill>
            <a:srgbClr val="141C2D"/>
          </a:solidFill>
          <a:ln>
            <a:solidFill>
              <a:srgbClr val="21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t>Streamlit Code Transfer</a:t>
            </a:r>
          </a:p>
          <a:p>
            <a:pPr>
              <a:defRPr sz="1000">
                <a:solidFill>
                  <a:srgbClr val="AAB4C8"/>
                </a:solidFill>
              </a:defRPr>
            </a:pPr>
            <a:r>
              <a:t>Load Dataset &amp;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4300" y="445770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1DCB4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4407408"/>
            <a:ext cx="2560320" cy="566928"/>
          </a:xfrm>
          <a:prstGeom prst="roundRect">
            <a:avLst/>
          </a:prstGeom>
          <a:solidFill>
            <a:srgbClr val="141C2D"/>
          </a:solidFill>
          <a:ln>
            <a:solidFill>
              <a:srgbClr val="21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t>Interactive User Interface</a:t>
            </a:r>
          </a:p>
          <a:p>
            <a:pPr>
              <a:defRPr sz="1000">
                <a:solidFill>
                  <a:srgbClr val="AAB4C8"/>
                </a:solidFill>
              </a:defRPr>
            </a:pPr>
            <a:r>
              <a:t>N,P,K, Climate 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0851" y="4480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1DCB4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407408"/>
            <a:ext cx="2560320" cy="566928"/>
          </a:xfrm>
          <a:prstGeom prst="roundRect">
            <a:avLst/>
          </a:prstGeom>
          <a:solidFill>
            <a:srgbClr val="141C2D"/>
          </a:solidFill>
          <a:ln>
            <a:solidFill>
              <a:srgbClr val="21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rPr dirty="0"/>
              <a:t>Automated Preprocessing</a:t>
            </a:r>
          </a:p>
          <a:p>
            <a:pPr>
              <a:defRPr sz="1000">
                <a:solidFill>
                  <a:srgbClr val="AAB4C8"/>
                </a:solidFill>
              </a:defRPr>
            </a:pPr>
            <a:r>
              <a:rPr dirty="0"/>
              <a:t>Scaled &amp; Transformed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2540" y="45079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1DCB4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48328" y="4414619"/>
            <a:ext cx="2410272" cy="566928"/>
          </a:xfrm>
          <a:prstGeom prst="roundRect">
            <a:avLst/>
          </a:prstGeom>
          <a:solidFill>
            <a:srgbClr val="0C5A3C"/>
          </a:solidFill>
          <a:ln>
            <a:solidFill>
              <a:srgbClr val="21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rPr dirty="0"/>
              <a:t>Real-Time Crop</a:t>
            </a:r>
            <a:br>
              <a:rPr dirty="0"/>
            </a:br>
            <a:r>
              <a:rPr dirty="0"/>
              <a:t>Recommendation</a:t>
            </a:r>
          </a:p>
          <a:p>
            <a:pPr>
              <a:defRPr sz="1000">
                <a:solidFill>
                  <a:srgbClr val="AAB4C8"/>
                </a:solidFill>
              </a:defRPr>
            </a:pPr>
            <a:r>
              <a:rPr dirty="0"/>
              <a:t>99.</a:t>
            </a:r>
            <a:r>
              <a:rPr lang="en-US" dirty="0"/>
              <a:t>55</a:t>
            </a:r>
            <a:r>
              <a:rPr dirty="0"/>
              <a:t>% Accuracy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365760"/>
            <a:ext cx="45720" cy="502920"/>
          </a:xfrm>
          <a:prstGeom prst="rect">
            <a:avLst/>
          </a:prstGeom>
          <a:solidFill>
            <a:srgbClr val="22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Dataset Profile &amp;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5394960" cy="3840480"/>
          </a:xfrm>
          <a:prstGeom prst="roundRect">
            <a:avLst/>
          </a:prstGeom>
          <a:solidFill>
            <a:srgbClr val="18233A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CB4FF"/>
                </a:solidFill>
              </a:defRPr>
            </a:pPr>
            <a:r>
              <a:t>🛢 Dataset Summary</a:t>
            </a:r>
          </a:p>
          <a:p>
            <a:pPr>
              <a:defRPr sz="1500">
                <a:solidFill>
                  <a:srgbClr val="EBEBEB"/>
                </a:solidFill>
              </a:defRPr>
            </a:pPr>
            <a:r>
              <a:t>• Total Volume: 6,596 agricultural instances.</a:t>
            </a:r>
          </a:p>
          <a:p>
            <a:pPr>
              <a:defRPr sz="1500">
                <a:solidFill>
                  <a:srgbClr val="EBEBEB"/>
                </a:solidFill>
              </a:defRPr>
            </a:pPr>
            <a:r>
              <a:t>• Target Classes: 51 distinct crops (Wheat, Rice, Potato, Onion, Spices, Fruits, etc.).</a:t>
            </a:r>
          </a:p>
          <a:p>
            <a:pPr>
              <a:defRPr sz="1500">
                <a:solidFill>
                  <a:srgbClr val="EBEBEB"/>
                </a:solidFill>
              </a:defRPr>
            </a:pPr>
            <a:r>
              <a:t>• Data Integrity: 100% complete dataset (0 missing/null values).</a:t>
            </a:r>
          </a:p>
          <a:p>
            <a:pPr>
              <a:defRPr sz="1500">
                <a:solidFill>
                  <a:srgbClr val="EBEBEB"/>
                </a:solidFill>
              </a:defRPr>
            </a:pPr>
            <a:r>
              <a:t>• Nutrients: Nitrogen (0–180), Phosphorus (5–145), Potassium (5–205).</a:t>
            </a:r>
          </a:p>
          <a:p>
            <a:pPr>
              <a:defRPr sz="1500">
                <a:solidFill>
                  <a:srgbClr val="EBEBEB"/>
                </a:solidFill>
              </a:defRPr>
            </a:pPr>
            <a:r>
              <a:t>• Climate &amp; Soil: Temp (1.2–43.7°C), Humidity (14–100%), Rainfall (3.3–3,322 mm), pH (3.5–9.9).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874519"/>
            <a:ext cx="5394960" cy="3840480"/>
          </a:xfrm>
          <a:prstGeom prst="roundRect">
            <a:avLst/>
          </a:prstGeom>
          <a:solidFill>
            <a:srgbClr val="18233A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CB4FF"/>
                </a:solidFill>
              </a:defRPr>
            </a:pPr>
            <a:r>
              <a:t>⚙⚙ Scikit-Learn Preprocessing</a:t>
            </a:r>
          </a:p>
          <a:p>
            <a:pPr>
              <a:defRPr sz="1500">
                <a:solidFill>
                  <a:srgbClr val="EBEBEB"/>
                </a:solidFill>
              </a:defRPr>
            </a:pPr>
            <a:r>
              <a:t>1. Data Cleaning &amp; Inspection: Verified complete feature coverage across all 51 classes.</a:t>
            </a:r>
          </a:p>
          <a:p>
            <a:pPr>
              <a:defRPr sz="1500">
                <a:solidFill>
                  <a:srgbClr val="EBEBEB"/>
                </a:solidFill>
              </a:defRPr>
            </a:pPr>
            <a:r>
              <a:t>2. Feature Normalization (StandardScaler): Standardized numerical inputs to zero mean and unit variance.</a:t>
            </a:r>
          </a:p>
          <a:p>
            <a:pPr>
              <a:defRPr sz="1500">
                <a:solidFill>
                  <a:srgbClr val="EBEBEB"/>
                </a:solidFill>
              </a:defRPr>
            </a:pPr>
            <a:r>
              <a:t>3. Categorical Transformation (OneHotEncoder): Processed categorical variables without introducing artificial ordinal bias.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320040"/>
            <a:ext cx="45720" cy="502920"/>
          </a:xfrm>
          <a:prstGeom prst="rect">
            <a:avLst/>
          </a:prstGeom>
          <a:solidFill>
            <a:srgbClr val="24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Machine Learning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66160" cy="2926080"/>
          </a:xfrm>
          <a:prstGeom prst="roundRect">
            <a:avLst/>
          </a:prstGeom>
          <a:solidFill>
            <a:srgbClr val="19253C"/>
          </a:solidFill>
          <a:ln>
            <a:solidFill>
              <a:srgbClr val="2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0">
                <a:solidFill>
                  <a:srgbClr val="22DCB4"/>
                </a:solidFill>
              </a:defRPr>
            </a:pPr>
            <a:r>
              <a:t>⚙</a:t>
            </a:r>
          </a:p>
          <a:p>
            <a:pPr>
              <a:defRPr sz="2000" b="1">
                <a:solidFill>
                  <a:srgbClr val="37AAFF"/>
                </a:solidFill>
              </a:defRPr>
            </a:pPr>
            <a:r>
              <a:t>Logistic Regression</a:t>
            </a:r>
          </a:p>
          <a:p>
            <a:pPr>
              <a:defRPr sz="1500" b="0">
                <a:solidFill>
                  <a:srgbClr val="EBEBEB"/>
                </a:solidFill>
              </a:defRPr>
            </a:pPr>
            <a:r>
              <a:t>Linear baseline model for multi-</a:t>
            </a:r>
            <a:br/>
            <a:r>
              <a:t>class classification utilizing</a:t>
            </a:r>
            <a:br/>
            <a:r>
              <a:t>multinomial loss. Evaluates linear</a:t>
            </a:r>
            <a:br/>
            <a:r>
              <a:t>boundary capability.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566160" cy="2926080"/>
          </a:xfrm>
          <a:prstGeom prst="roundRect">
            <a:avLst/>
          </a:prstGeom>
          <a:solidFill>
            <a:srgbClr val="19253C"/>
          </a:solidFill>
          <a:ln>
            <a:solidFill>
              <a:srgbClr val="2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0">
                <a:solidFill>
                  <a:srgbClr val="22DCB4"/>
                </a:solidFill>
              </a:defRPr>
            </a:pPr>
            <a:r>
              <a:t>◈</a:t>
            </a:r>
          </a:p>
          <a:p>
            <a:pPr>
              <a:defRPr sz="2000" b="1">
                <a:solidFill>
                  <a:srgbClr val="37AAFF"/>
                </a:solidFill>
              </a:defRPr>
            </a:pPr>
            <a:r>
              <a:t>KNN Pipeline</a:t>
            </a:r>
          </a:p>
          <a:p>
            <a:pPr>
              <a:defRPr sz="1500" b="0">
                <a:solidFill>
                  <a:srgbClr val="EBEBEB"/>
                </a:solidFill>
              </a:defRPr>
            </a:pPr>
            <a:r>
              <a:t>Distance-based classifier (K=5)</a:t>
            </a:r>
            <a:br/>
            <a:r>
              <a:t>heavily reliant on StandardScaler</a:t>
            </a:r>
            <a:br/>
            <a:r>
              <a:t>feature normalization across 7</a:t>
            </a:r>
            <a:br/>
            <a:r>
              <a:t>dimensions.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828800"/>
            <a:ext cx="3566160" cy="2926080"/>
          </a:xfrm>
          <a:prstGeom prst="roundRect">
            <a:avLst/>
          </a:prstGeom>
          <a:solidFill>
            <a:srgbClr val="063728"/>
          </a:solidFill>
          <a:ln>
            <a:solidFill>
              <a:srgbClr val="2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0">
                <a:solidFill>
                  <a:srgbClr val="22DCB4"/>
                </a:solidFill>
              </a:defRPr>
            </a:pPr>
            <a:r>
              <a:t>▲</a:t>
            </a:r>
          </a:p>
          <a:p>
            <a:pPr>
              <a:defRPr sz="2000" b="1">
                <a:solidFill>
                  <a:srgbClr val="37AAFF"/>
                </a:solidFill>
              </a:defRPr>
            </a:pPr>
            <a:r>
              <a:t>Random Forest</a:t>
            </a:r>
          </a:p>
          <a:p>
            <a:pPr>
              <a:defRPr sz="1500" b="0">
                <a:solidFill>
                  <a:srgbClr val="EBEBEB"/>
                </a:solidFill>
              </a:defRPr>
            </a:pPr>
            <a:r>
              <a:t>Ensemble decision tree classifier</a:t>
            </a:r>
            <a:br/>
            <a:r>
              <a:t>using bagging. Excels at capturing</a:t>
            </a:r>
            <a:br/>
            <a:r>
              <a:t>complex, non-linear multi-variable</a:t>
            </a:r>
            <a:br/>
            <a:r>
              <a:t>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74320"/>
            <a:ext cx="45720" cy="731520"/>
          </a:xfrm>
          <a:prstGeom prst="rect">
            <a:avLst/>
          </a:prstGeom>
          <a:solidFill>
            <a:srgbClr val="2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Model Evaluation &amp; Comparative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201168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0F0"/>
                </a:solidFill>
              </a:defRPr>
            </a:pPr>
            <a:r>
              <a:t>Random Forest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645920"/>
            <a:ext cx="8229600" cy="320040"/>
          </a:xfrm>
          <a:prstGeom prst="roundRect">
            <a:avLst/>
          </a:prstGeom>
          <a:solidFill>
            <a:srgbClr val="23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34640" y="1655064"/>
            <a:ext cx="8163763" cy="320040"/>
          </a:xfrm>
          <a:prstGeom prst="roundRect">
            <a:avLst/>
          </a:prstGeom>
          <a:solidFill>
            <a:srgbClr val="22C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11954" y="1645920"/>
            <a:ext cx="7296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1414"/>
                </a:solidFill>
              </a:defRPr>
            </a:pPr>
            <a:r>
              <a:rPr dirty="0"/>
              <a:t>99.</a:t>
            </a:r>
            <a:r>
              <a:rPr lang="en-US" dirty="0"/>
              <a:t>55</a:t>
            </a:r>
            <a:r>
              <a:rPr dirty="0"/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01168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0F0"/>
                </a:solidFill>
              </a:defRPr>
            </a:pPr>
            <a:r>
              <a:t>K-Nearest Neighbors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40280"/>
            <a:ext cx="8229600" cy="320040"/>
          </a:xfrm>
          <a:prstGeom prst="roundRect">
            <a:avLst/>
          </a:prstGeom>
          <a:solidFill>
            <a:srgbClr val="23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34640" y="2240280"/>
            <a:ext cx="8015630" cy="320040"/>
          </a:xfrm>
          <a:prstGeom prst="roundRect">
            <a:avLst/>
          </a:prstGeom>
          <a:solidFill>
            <a:srgbClr val="40B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211954" y="2221992"/>
            <a:ext cx="7296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1414"/>
                </a:solidFill>
              </a:defRPr>
            </a:pPr>
            <a:r>
              <a:rPr dirty="0"/>
              <a:t>9</a:t>
            </a:r>
            <a:r>
              <a:rPr lang="en-US" dirty="0"/>
              <a:t>6</a:t>
            </a:r>
            <a:r>
              <a:rPr dirty="0"/>
              <a:t>.</a:t>
            </a:r>
            <a:r>
              <a:rPr lang="en-US" dirty="0"/>
              <a:t>44</a:t>
            </a:r>
            <a:r>
              <a:rPr dirty="0"/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201168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0F0"/>
                </a:solidFill>
              </a:defRPr>
            </a:pPr>
            <a:r>
              <a:t>Logistic Regression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816351"/>
            <a:ext cx="8229600" cy="320040"/>
          </a:xfrm>
          <a:prstGeom prst="roundRect">
            <a:avLst/>
          </a:prstGeom>
          <a:solidFill>
            <a:srgbClr val="23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34640" y="2834640"/>
            <a:ext cx="7669987" cy="320040"/>
          </a:xfrm>
          <a:prstGeom prst="roundRect">
            <a:avLst/>
          </a:prstGeom>
          <a:solidFill>
            <a:srgbClr val="788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48177" y="2822482"/>
            <a:ext cx="7296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1414"/>
                </a:solidFill>
              </a:defRPr>
            </a:pPr>
            <a:r>
              <a:rPr lang="en-US" dirty="0"/>
              <a:t>92.73</a:t>
            </a:r>
            <a:r>
              <a:rPr dirty="0"/>
              <a:t>%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811583"/>
              </p:ext>
            </p:extLst>
          </p:nvPr>
        </p:nvGraphicFramePr>
        <p:xfrm>
          <a:off x="411480" y="4206240"/>
          <a:ext cx="11155680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r>
                        <a:t>Model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 Characteristic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t>Random Forest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~9</a:t>
                      </a:r>
                      <a:r>
                        <a:rPr lang="en-US" dirty="0"/>
                        <a:t>9.79</a:t>
                      </a:r>
                      <a:r>
                        <a:rPr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9</a:t>
                      </a:r>
                      <a:r>
                        <a:rPr lang="en-US" dirty="0"/>
                        <a:t>9</a:t>
                      </a:r>
                      <a:r>
                        <a:rPr dirty="0"/>
                        <a:t>.</a:t>
                      </a:r>
                      <a:r>
                        <a:rPr lang="en-US" dirty="0"/>
                        <a:t>55</a:t>
                      </a:r>
                      <a:r>
                        <a:rPr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 handling of complex non-linear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dirty="0"/>
                        <a:t>KNN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~97.74%</a:t>
                      </a:r>
                    </a:p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96.44%</a:t>
                      </a:r>
                    </a:p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Highly effective following StandardScaler scaling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~9</a:t>
                      </a:r>
                      <a:r>
                        <a:rPr lang="en-US" dirty="0"/>
                        <a:t>3</a:t>
                      </a:r>
                      <a:r>
                        <a:rPr dirty="0"/>
                        <a:t>.</a:t>
                      </a:r>
                      <a:r>
                        <a:rPr lang="en-US" dirty="0"/>
                        <a:t>40</a:t>
                      </a:r>
                      <a:r>
                        <a:rPr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9</a:t>
                      </a:r>
                      <a:r>
                        <a:rPr lang="en-US" dirty="0"/>
                        <a:t>2</a:t>
                      </a:r>
                      <a:r>
                        <a:rPr dirty="0"/>
                        <a:t>.</a:t>
                      </a:r>
                      <a:r>
                        <a:rPr lang="en-US" dirty="0"/>
                        <a:t>73</a:t>
                      </a:r>
                      <a:r>
                        <a:rPr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Fast execution; limited by non-linear decision spaces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54864" cy="685800"/>
          </a:xfrm>
          <a:prstGeom prst="rect">
            <a:avLst/>
          </a:prstGeom>
          <a:solidFill>
            <a:srgbClr val="23D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Conclusion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3905236" cy="18774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22D6B5"/>
                </a:solidFill>
              </a:defRPr>
            </a:pPr>
            <a:r>
              <a:rPr dirty="0"/>
              <a:t>99.</a:t>
            </a:r>
            <a:r>
              <a:rPr lang="en-US" dirty="0"/>
              <a:t>55</a:t>
            </a:r>
            <a:r>
              <a:rPr dirty="0"/>
              <a:t>%</a:t>
            </a:r>
          </a:p>
          <a:p>
            <a:pPr>
              <a:defRPr sz="2000" b="1">
                <a:solidFill>
                  <a:srgbClr val="48B4FF"/>
                </a:solidFill>
              </a:defRPr>
            </a:pPr>
            <a:r>
              <a:rPr dirty="0"/>
              <a:t>TESTING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194560"/>
            <a:ext cx="4918782" cy="19082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8B4FF"/>
                </a:solidFill>
              </a:defRPr>
            </a:pPr>
            <a:r>
              <a:rPr dirty="0"/>
              <a:t>Key Outcomes</a:t>
            </a:r>
          </a:p>
          <a:p>
            <a:pPr>
              <a:defRPr sz="1600">
                <a:solidFill>
                  <a:srgbClr val="EBEBEB"/>
                </a:solidFill>
              </a:defRPr>
            </a:pPr>
            <a:r>
              <a:rPr dirty="0"/>
              <a:t>• Data-Driven Precision: Our model effectively classifies</a:t>
            </a:r>
            <a:br>
              <a:rPr dirty="0"/>
            </a:br>
            <a:r>
              <a:rPr dirty="0"/>
              <a:t>51 distinct crop varieties based on 7 critical soil and</a:t>
            </a:r>
            <a:br>
              <a:rPr dirty="0"/>
            </a:br>
            <a:r>
              <a:rPr dirty="0"/>
              <a:t>weather parameters.</a:t>
            </a:r>
          </a:p>
          <a:p>
            <a:pPr>
              <a:defRPr sz="1600">
                <a:solidFill>
                  <a:srgbClr val="EBEBEB"/>
                </a:solidFill>
              </a:defRPr>
            </a:pPr>
            <a:r>
              <a:rPr dirty="0"/>
              <a:t>• Bridge from Code to Practice: Deploying our pipeline in</a:t>
            </a:r>
            <a:br>
              <a:rPr dirty="0"/>
            </a:br>
            <a:r>
              <a:rPr dirty="0" err="1"/>
              <a:t>Streamlit</a:t>
            </a:r>
            <a:r>
              <a:rPr dirty="0"/>
              <a:t> turns complex Python machine learning into an</a:t>
            </a:r>
            <a:br>
              <a:rPr dirty="0"/>
            </a:br>
            <a:r>
              <a:rPr dirty="0"/>
              <a:t>accessible decision tool for modern agriculture.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74320"/>
            <a:ext cx="54864" cy="731520"/>
          </a:xfrm>
          <a:prstGeom prst="rect">
            <a:avLst/>
          </a:prstGeom>
          <a:solidFill>
            <a:srgbClr val="21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Streamlit Web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86400" cy="3474720"/>
          </a:xfrm>
          <a:prstGeom prst="roundRect">
            <a:avLst/>
          </a:prstGeom>
          <a:solidFill>
            <a:srgbClr val="2296F0"/>
          </a:solidFill>
          <a:ln>
            <a:solidFill>
              <a:srgbClr val="22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222071" cy="36317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B4FF"/>
                </a:solidFill>
              </a:defRPr>
            </a:pPr>
            <a:r>
              <a:rPr dirty="0"/>
              <a:t>Interactive Deployment</a:t>
            </a:r>
          </a:p>
          <a:p>
            <a:pPr>
              <a:defRPr sz="1600" b="0">
                <a:solidFill>
                  <a:srgbClr val="E6E6E6"/>
                </a:solidFill>
              </a:defRPr>
            </a:pPr>
            <a:r>
              <a:rPr dirty="0"/>
              <a:t>Transferred dataset loading, scaling, and Random Forest</a:t>
            </a:r>
            <a:br>
              <a:rPr dirty="0"/>
            </a:br>
            <a:r>
              <a:rPr dirty="0"/>
              <a:t>pipeline code into </a:t>
            </a:r>
            <a:r>
              <a:rPr dirty="0" err="1"/>
              <a:t>Streamlit</a:t>
            </a:r>
            <a:r>
              <a:rPr dirty="0"/>
              <a:t> to create a seamless web tool.</a:t>
            </a:r>
          </a:p>
          <a:p>
            <a:pPr>
              <a:defRPr sz="1600" b="1">
                <a:solidFill>
                  <a:srgbClr val="E6E6E6"/>
                </a:solidFill>
              </a:defRPr>
            </a:pPr>
            <a:r>
              <a:rPr dirty="0"/>
              <a:t>• Input Form:</a:t>
            </a:r>
          </a:p>
          <a:p>
            <a:pPr>
              <a:defRPr sz="1600" b="0">
                <a:solidFill>
                  <a:srgbClr val="E6E6E6"/>
                </a:solidFill>
              </a:defRPr>
            </a:pPr>
            <a:r>
              <a:rPr dirty="0"/>
              <a:t> Sliders &amp; numerical fields for N, P, K, Temp,</a:t>
            </a:r>
            <a:br>
              <a:rPr dirty="0"/>
            </a:br>
            <a:r>
              <a:rPr dirty="0"/>
              <a:t>Humidity, pH, Rainfall.</a:t>
            </a:r>
          </a:p>
          <a:p>
            <a:pPr>
              <a:defRPr sz="1600" b="1">
                <a:solidFill>
                  <a:srgbClr val="E6E6E6"/>
                </a:solidFill>
              </a:defRPr>
            </a:pPr>
            <a:r>
              <a:rPr dirty="0"/>
              <a:t>• Automated Scaling:</a:t>
            </a:r>
          </a:p>
          <a:p>
            <a:pPr>
              <a:defRPr sz="1600" b="0">
                <a:solidFill>
                  <a:srgbClr val="E6E6E6"/>
                </a:solidFill>
              </a:defRPr>
            </a:pPr>
            <a:r>
              <a:rPr dirty="0"/>
              <a:t> Raw inputs feed directly into the fitted</a:t>
            </a:r>
            <a:br>
              <a:rPr dirty="0"/>
            </a:br>
            <a:r>
              <a:rPr dirty="0" err="1"/>
              <a:t>StandardScaler</a:t>
            </a:r>
            <a:r>
              <a:rPr dirty="0"/>
              <a:t> pipeline.</a:t>
            </a:r>
          </a:p>
          <a:p>
            <a:pPr>
              <a:defRPr sz="1600" b="1">
                <a:solidFill>
                  <a:srgbClr val="E6E6E6"/>
                </a:solidFill>
              </a:defRPr>
            </a:pPr>
            <a:r>
              <a:rPr dirty="0"/>
              <a:t>• Real-Time Output:</a:t>
            </a:r>
          </a:p>
          <a:p>
            <a:pPr>
              <a:defRPr sz="1600" b="0">
                <a:solidFill>
                  <a:srgbClr val="E6E6E6"/>
                </a:solidFill>
              </a:defRPr>
            </a:pPr>
            <a:r>
              <a:rPr dirty="0"/>
              <a:t> Displays the predicted crop out of 51</a:t>
            </a:r>
            <a:br>
              <a:rPr dirty="0"/>
            </a:br>
            <a:r>
              <a:rPr dirty="0"/>
              <a:t>categories instantly.</a:t>
            </a:r>
            <a:endParaRPr lang="en-US" dirty="0"/>
          </a:p>
          <a:p>
            <a:pPr>
              <a:defRPr sz="1600" b="0">
                <a:solidFill>
                  <a:srgbClr val="E6E6E6"/>
                </a:solidFill>
              </a:defRPr>
            </a:pPr>
            <a:endParaRPr lang="en-IN" dirty="0"/>
          </a:p>
          <a:p>
            <a:pPr>
              <a:defRPr sz="1600" b="0">
                <a:solidFill>
                  <a:srgbClr val="E6E6E6"/>
                </a:solidFill>
              </a:defRPr>
            </a:pP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120B34-C01F-449A-341E-FD470A963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1" y="1828800"/>
            <a:ext cx="5593080" cy="3474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3C6B9B-B7A2-C94A-4A6A-B4AC4D8FB51D}"/>
              </a:ext>
            </a:extLst>
          </p:cNvPr>
          <p:cNvSpPr txBox="1"/>
          <p:nvPr/>
        </p:nvSpPr>
        <p:spPr>
          <a:xfrm>
            <a:off x="417745" y="5645150"/>
            <a:ext cx="108684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000" dirty="0"/>
              <a:t>Web app link here : </a:t>
            </a:r>
            <a:r>
              <a:rPr lang="en-US" sz="2000" dirty="0">
                <a:hlinkClick r:id="rId3"/>
              </a:rPr>
              <a:t>https://crop-recommendation-mrxficaj6jkwgd3bkimjdt.streamlit.app/</a:t>
            </a:r>
            <a:endParaRPr lang="en-US" sz="2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54864" cy="685800"/>
          </a:xfrm>
          <a:prstGeom prst="rect">
            <a:avLst/>
          </a:prstGeom>
          <a:solidFill>
            <a:srgbClr val="23D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962560"/>
            <a:ext cx="11276228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DBB7"/>
                </a:solidFill>
              </a:defRPr>
            </a:pPr>
            <a:r>
              <a:rPr dirty="0"/>
              <a:t>☁ </a:t>
            </a:r>
          </a:p>
          <a:p>
            <a:pPr>
              <a:defRPr sz="1700" b="0">
                <a:solidFill>
                  <a:srgbClr val="EBEBEB"/>
                </a:solidFill>
              </a:defRPr>
            </a:pPr>
            <a:r>
              <a:rPr dirty="0"/>
              <a:t>Live Weather API Integration: Fetch regional rainfall, humidity, and temperature automatically using GPS location coordinates.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079452"/>
            <a:ext cx="10658752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DBB7"/>
                </a:solidFill>
              </a:defRPr>
            </a:pPr>
            <a:r>
              <a:rPr dirty="0"/>
              <a:t>▣ </a:t>
            </a:r>
          </a:p>
          <a:p>
            <a:pPr>
              <a:defRPr sz="1700" b="0">
                <a:solidFill>
                  <a:srgbClr val="EBEBEB"/>
                </a:solidFill>
              </a:defRPr>
            </a:pPr>
            <a:r>
              <a:rPr dirty="0"/>
              <a:t>IoT Soil Sensor Hardware: Connect live N–P–K and pH hardware sensor modules directly to the </a:t>
            </a:r>
            <a:r>
              <a:rPr dirty="0" err="1"/>
              <a:t>Streamlit</a:t>
            </a:r>
            <a:r>
              <a:rPr dirty="0"/>
              <a:t> app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144" y="4196344"/>
            <a:ext cx="10684592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DBB7"/>
                </a:solidFill>
              </a:defRPr>
            </a:pPr>
            <a:r>
              <a:rPr dirty="0"/>
              <a:t>◉ </a:t>
            </a:r>
          </a:p>
          <a:p>
            <a:pPr>
              <a:defRPr sz="1700" b="0">
                <a:solidFill>
                  <a:srgbClr val="EBEBEB"/>
                </a:solidFill>
              </a:defRPr>
            </a:pPr>
            <a:r>
              <a:rPr dirty="0"/>
              <a:t>Cloud Deployment: Host on </a:t>
            </a:r>
            <a:r>
              <a:rPr dirty="0" err="1"/>
              <a:t>Streamlit</a:t>
            </a:r>
            <a:r>
              <a:rPr dirty="0"/>
              <a:t> Community Cloud with multi-language UI support for rural farming communities.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54864" cy="685800"/>
          </a:xfrm>
          <a:prstGeom prst="rect">
            <a:avLst/>
          </a:prstGeom>
          <a:solidFill>
            <a:srgbClr val="23D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Project Technical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94960" cy="1280160"/>
          </a:xfrm>
          <a:prstGeom prst="roundRect">
            <a:avLst/>
          </a:prstGeom>
          <a:solidFill>
            <a:srgbClr val="1B273D"/>
          </a:solidFill>
          <a:ln>
            <a:solidFill>
              <a:srgbClr val="32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91639"/>
            <a:ext cx="4554773" cy="96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8B4FF"/>
                </a:solidFill>
              </a:defRPr>
            </a:pPr>
            <a:r>
              <a:rPr dirty="0"/>
              <a:t>Dataset Used</a:t>
            </a:r>
          </a:p>
          <a:p>
            <a:pPr>
              <a:defRPr sz="1300">
                <a:solidFill>
                  <a:srgbClr val="EBEBEB"/>
                </a:solidFill>
              </a:defRPr>
            </a:pPr>
            <a:r>
              <a:rPr dirty="0"/>
              <a:t>merged_crop_dataset.csv — 6,596 agricultural samples covering</a:t>
            </a:r>
            <a:endParaRPr lang="en-US" dirty="0"/>
          </a:p>
          <a:p>
            <a:pPr>
              <a:defRPr sz="1300">
                <a:solidFill>
                  <a:srgbClr val="EBEBEB"/>
                </a:solidFill>
              </a:defRPr>
            </a:pPr>
            <a:r>
              <a:rPr dirty="0"/>
              <a:t>51 target crop classes with 7 features</a:t>
            </a:r>
            <a:endParaRPr lang="en-US" dirty="0"/>
          </a:p>
          <a:p>
            <a:pPr>
              <a:defRPr sz="1300">
                <a:solidFill>
                  <a:srgbClr val="EBEBEB"/>
                </a:solidFill>
              </a:defRPr>
            </a:pPr>
            <a:r>
              <a:rPr dirty="0"/>
              <a:t>(N, P, K, Temp, Humidity, pH, Rainfall).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394960" cy="1280160"/>
          </a:xfrm>
          <a:prstGeom prst="roundRect">
            <a:avLst/>
          </a:prstGeom>
          <a:solidFill>
            <a:srgbClr val="1B273D"/>
          </a:solidFill>
          <a:ln>
            <a:solidFill>
              <a:srgbClr val="32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691639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8B4FF"/>
                </a:solidFill>
              </a:defRPr>
            </a:pPr>
            <a:r>
              <a:t>Data Preprocessing</a:t>
            </a:r>
          </a:p>
          <a:p>
            <a:pPr>
              <a:defRPr sz="1300">
                <a:solidFill>
                  <a:srgbClr val="EBEBEB"/>
                </a:solidFill>
              </a:defRPr>
            </a:pPr>
            <a:r>
              <a:t>1. Data Cleaning &amp; Null Inspection</a:t>
            </a:r>
            <a:br/>
            <a:r>
              <a:t>2. StandardScaler normalization</a:t>
            </a:r>
            <a:br/>
            <a:r>
              <a:t>3. OneHotEncoder transformation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5394960" cy="1280160"/>
          </a:xfrm>
          <a:prstGeom prst="roundRect">
            <a:avLst/>
          </a:prstGeom>
          <a:solidFill>
            <a:srgbClr val="1B273D"/>
          </a:solidFill>
          <a:ln>
            <a:solidFill>
              <a:srgbClr val="32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2267993" cy="96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8B4FF"/>
                </a:solidFill>
              </a:defRPr>
            </a:pPr>
            <a:r>
              <a:rPr dirty="0"/>
              <a:t>Algorithms / Models</a:t>
            </a:r>
          </a:p>
          <a:p>
            <a:pPr>
              <a:defRPr sz="1300">
                <a:solidFill>
                  <a:srgbClr val="EBEBEB"/>
                </a:solidFill>
              </a:defRPr>
            </a:pPr>
            <a:r>
              <a:rPr dirty="0"/>
              <a:t>1. Random Forest (99.</a:t>
            </a:r>
            <a:r>
              <a:rPr lang="en-US" dirty="0"/>
              <a:t>55</a:t>
            </a:r>
            <a:r>
              <a:rPr dirty="0"/>
              <a:t>%)</a:t>
            </a:r>
            <a:br>
              <a:rPr dirty="0"/>
            </a:br>
            <a:r>
              <a:rPr dirty="0"/>
              <a:t>2. KNN (9</a:t>
            </a:r>
            <a:r>
              <a:rPr lang="en-US" dirty="0"/>
              <a:t>6</a:t>
            </a:r>
            <a:r>
              <a:rPr dirty="0"/>
              <a:t>.</a:t>
            </a:r>
            <a:r>
              <a:rPr lang="en-US" dirty="0"/>
              <a:t>4</a:t>
            </a:r>
            <a:r>
              <a:rPr dirty="0"/>
              <a:t>4%)</a:t>
            </a:r>
            <a:br>
              <a:rPr dirty="0"/>
            </a:br>
            <a:r>
              <a:rPr dirty="0"/>
              <a:t>3. Logistic Regression (9</a:t>
            </a:r>
            <a:r>
              <a:rPr lang="en-US" dirty="0"/>
              <a:t>2</a:t>
            </a:r>
            <a:r>
              <a:rPr dirty="0"/>
              <a:t>.</a:t>
            </a:r>
            <a:r>
              <a:rPr lang="en-US" dirty="0"/>
              <a:t>73</a:t>
            </a:r>
            <a:r>
              <a:rPr dirty="0"/>
              <a:t>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291840"/>
            <a:ext cx="5394960" cy="1280160"/>
          </a:xfrm>
          <a:prstGeom prst="roundRect">
            <a:avLst/>
          </a:prstGeom>
          <a:solidFill>
            <a:srgbClr val="1B273D"/>
          </a:solidFill>
          <a:ln>
            <a:solidFill>
              <a:srgbClr val="32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3429000"/>
            <a:ext cx="3533340" cy="96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8B4FF"/>
                </a:solidFill>
              </a:defRPr>
            </a:pPr>
            <a:r>
              <a:rPr dirty="0"/>
              <a:t>Tech Stack Used</a:t>
            </a:r>
          </a:p>
          <a:p>
            <a:pPr>
              <a:defRPr sz="1300">
                <a:solidFill>
                  <a:srgbClr val="EBEBEB"/>
                </a:solidFill>
              </a:defRPr>
            </a:pPr>
            <a:r>
              <a:rPr dirty="0"/>
              <a:t>Python 3.</a:t>
            </a:r>
            <a:r>
              <a:rPr lang="en-US" dirty="0"/>
              <a:t>14.6</a:t>
            </a:r>
            <a:br>
              <a:rPr dirty="0"/>
            </a:br>
            <a:r>
              <a:rPr dirty="0"/>
              <a:t>Scikit-Learn, Pandas, NumPy</a:t>
            </a:r>
            <a:r>
              <a:rPr lang="en-US" dirty="0"/>
              <a:t>, Matplotlib, Seaborn</a:t>
            </a:r>
            <a:br>
              <a:rPr dirty="0"/>
            </a:br>
            <a:r>
              <a:rPr dirty="0"/>
              <a:t>Jupyter Notebook, </a:t>
            </a:r>
            <a:r>
              <a:rPr dirty="0" err="1"/>
              <a:t>Streamlit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1B27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4258" y="4983480"/>
            <a:ext cx="5247902" cy="769441"/>
          </a:xfrm>
          <a:prstGeom prst="rect">
            <a:avLst/>
          </a:prstGeom>
          <a:solidFill>
            <a:srgbClr val="1B273D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3DBB7"/>
                </a:solidFill>
              </a:defRPr>
            </a:pPr>
            <a:r>
              <a:rPr dirty="0">
                <a:solidFill>
                  <a:srgbClr val="00B0F0"/>
                </a:solidFill>
              </a:rPr>
              <a:t>Team Member Contributions</a:t>
            </a:r>
          </a:p>
          <a:p>
            <a:pPr>
              <a:defRPr sz="1300">
                <a:solidFill>
                  <a:srgbClr val="EBEBEB"/>
                </a:solidFill>
              </a:defRPr>
            </a:pPr>
            <a:r>
              <a:rPr dirty="0"/>
              <a:t>• </a:t>
            </a:r>
            <a:r>
              <a:rPr lang="en-US" dirty="0"/>
              <a:t>Mohammad Aayan Zafar </a:t>
            </a:r>
            <a:r>
              <a:rPr dirty="0"/>
              <a:t>: ML engineering,</a:t>
            </a:r>
            <a:r>
              <a:rPr lang="en-IN" dirty="0"/>
              <a:t> </a:t>
            </a:r>
            <a:r>
              <a:rPr dirty="0"/>
              <a:t>preprocessing</a:t>
            </a:r>
            <a:r>
              <a:rPr lang="en-US" dirty="0"/>
              <a:t>, benchmarking.</a:t>
            </a:r>
            <a:br>
              <a:rPr lang="en-US" dirty="0"/>
            </a:br>
            <a:r>
              <a:rPr lang="en-US" dirty="0"/>
              <a:t>• Syed Ahmad Ali : </a:t>
            </a:r>
            <a:r>
              <a:rPr lang="en-US" dirty="0" err="1"/>
              <a:t>Streamlit</a:t>
            </a:r>
            <a:r>
              <a:rPr lang="en-US" dirty="0"/>
              <a:t> UI and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55628-DFD4-E783-45F0-A2D1DC0F6766}"/>
              </a:ext>
            </a:extLst>
          </p:cNvPr>
          <p:cNvSpPr txBox="1"/>
          <p:nvPr/>
        </p:nvSpPr>
        <p:spPr>
          <a:xfrm>
            <a:off x="1315345" y="1028343"/>
            <a:ext cx="95613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7200" i="1" dirty="0">
                <a:solidFill>
                  <a:srgbClr val="00B0F0"/>
                </a:solidFill>
              </a:rPr>
              <a:t>THANK YOU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449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907</Words>
  <Application>Microsoft Office PowerPoint</Application>
  <PresentationFormat>Widescreen</PresentationFormat>
  <Paragraphs>136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Mohammad Aayan Zafar</dc:creator>
  <cp:keywords/>
  <dc:description>generated using python-pptx</dc:description>
  <cp:lastModifiedBy>aayan zafar</cp:lastModifiedBy>
  <cp:revision>11</cp:revision>
  <dcterms:created xsi:type="dcterms:W3CDTF">2013-01-27T09:14:16Z</dcterms:created>
  <dcterms:modified xsi:type="dcterms:W3CDTF">2026-07-29T11:49:31Z</dcterms:modified>
  <cp:category/>
</cp:coreProperties>
</file>